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0" y="2011680"/>
            <a:ext cx="484632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AI-Powered Intelligent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6366F1"/>
                </a:solidFill>
              </a:defRPr>
            </a:pPr>
            <a:r>
              <a:t>Tax Filing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</a:defRPr>
            </a:pPr>
            <a:r>
              <a:t>A Production-Level Full-Stack System with 7+ AI/ML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D3EE"/>
                </a:solidFill>
              </a:defRPr>
            </a:pPr>
            <a:r>
              <a:t>Python  •  FastAPI  •  scikit-learn  •  NLTK  •  Plotly  •  Deep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8521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Semester 4 — AI Coursework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366F1"/>
                </a:solidFill>
              </a:defRPr>
            </a:pPr>
            <a:r>
              <a:t>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</a:defRPr>
            </a:pPr>
            <a:r>
              <a:t>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Complex Tax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Indian tax law has 2 regimes, 15+ deduction sections, and changes yearly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3035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Manual Filing 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Over 30% of self-filed returns have errors leading to notices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53035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319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</a:defRPr>
            </a:pPr>
            <a:r>
              <a:t>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Missed Deductions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292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Taxpayers miss ₹15,000-₹50,000 in savings due to lack of awareness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49039"/>
            <a:ext cx="53035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9319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</a:defRPr>
            </a:pPr>
            <a:r>
              <a:t>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572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Time-Consuming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0292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Average taxpayer spends 8-12 hours understanding and filing taxes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366F1"/>
                </a:solidFill>
              </a:defRPr>
            </a:pPr>
            <a:r>
              <a:t>OUR SOLUTION — 7+ AI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5603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256032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</a:defRPr>
            </a:pPr>
            <a:r>
              <a:t>State-Space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A* 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188720"/>
            <a:ext cx="25603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1188720"/>
            <a:ext cx="2560320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Random Forest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188720"/>
            <a:ext cx="25603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188720"/>
            <a:ext cx="2560320" cy="54864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</a:defRPr>
            </a:pPr>
            <a:r>
              <a:t>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Grad. Boost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188720"/>
            <a:ext cx="25603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0" y="1188720"/>
            <a:ext cx="2560320" cy="5486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</a:defRPr>
            </a:pPr>
            <a:r>
              <a:t>Probabilistic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Bayesian 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49039"/>
            <a:ext cx="25603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3749039"/>
            <a:ext cx="2560320" cy="54864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2335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6"/>
                </a:solidFill>
              </a:defRPr>
            </a:pPr>
            <a:r>
              <a:t>Neural 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89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Deep MLP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3749039"/>
            <a:ext cx="25603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566160" y="3749039"/>
            <a:ext cx="256032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0" y="402335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</a:defRPr>
            </a:pPr>
            <a:r>
              <a:t>Chatbot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4389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NLP Engine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749039"/>
            <a:ext cx="25603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0" y="3749039"/>
            <a:ext cx="2560320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02335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Generative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389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GenAI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749039"/>
            <a:ext cx="25603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35440" y="3749039"/>
            <a:ext cx="2560320" cy="54864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402335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</a:defRPr>
            </a:pPr>
            <a:r>
              <a:t>Optimization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4389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Heuristic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366F1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73152" cy="91440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143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D3EE"/>
                </a:solidFill>
              </a:defRPr>
            </a:pPr>
            <a:r>
              <a:t>Frontend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HTML/CSS/JS + Plotly.js — Filing Form, Chatbot, Dashboard, Simulator, Docs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73152" cy="9144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402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366F1"/>
                </a:solidFill>
              </a:defRPr>
            </a:pPr>
            <a:r>
              <a:t>API Layer (FastAPI)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517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tax_routes  |  chat_routes  |  analysis_routes  |  simulator_routes  |  document_routes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73152" cy="91440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337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</a:defRPr>
            </a:pPr>
            <a:r>
              <a:t>AI/ML Model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39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A* Search  |  RF Classifier  |  GB Regressor  |  Bayesian Net  |  DNN (MLP)  |  NLP  |  GenAI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389120"/>
            <a:ext cx="73152" cy="91440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434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923C"/>
                </a:solidFill>
              </a:defRPr>
            </a:pPr>
            <a:r>
              <a:t>Services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4632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Tax Calculator  |  Generative Engine  |  Prompt Templates  |  Document Processor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5486400"/>
            <a:ext cx="73152" cy="9144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532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472B6"/>
                </a:solidFill>
              </a:defRPr>
            </a:pPr>
            <a:r>
              <a:t>Utilities &amp;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9436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Privacy Logger (DPDPA)  |  Explainability  |  Datasets (CSV/JSON)  |  MLOps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366F1"/>
                </a:solidFill>
              </a:defRPr>
            </a:pPr>
            <a:r>
              <a:t>AI MODEL 1 — A* STATE-SPACE 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303520" cy="5303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D3EE"/>
                </a:solidFill>
              </a:defRPr>
            </a:pPr>
            <a: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</a:p>
          <a:p>
            <a:pPr>
              <a:spcBef>
                <a:spcPts val="800"/>
              </a:spcBef>
              <a:defRPr sz="1400" b="0">
                <a:solidFill>
                  <a:srgbClr val="94A3B8"/>
                </a:solidFill>
              </a:defRPr>
            </a:pPr>
            <a:r>
              <a:t>• Models tax filing as a graph search problem</a:t>
            </a:r>
          </a:p>
          <a:p>
            <a:pPr>
              <a:spcBef>
                <a:spcPts val="800"/>
              </a:spcBef>
              <a:defRPr sz="1400" b="0">
                <a:solidFill>
                  <a:srgbClr val="94A3B8"/>
                </a:solidFill>
              </a:defRPr>
            </a:pPr>
            <a:r>
              <a:t>• States = filing steps (15 steps from Start → Complete)</a:t>
            </a:r>
          </a:p>
          <a:p>
            <a:pPr>
              <a:spcBef>
                <a:spcPts val="800"/>
              </a:spcBef>
              <a:defRPr sz="1400" b="0">
                <a:solidFill>
                  <a:srgbClr val="94A3B8"/>
                </a:solidFill>
              </a:defRPr>
            </a:pPr>
            <a:r>
              <a:t>• Edges = valid transitions with associated costs</a:t>
            </a:r>
          </a:p>
          <a:p>
            <a:pPr>
              <a:spcBef>
                <a:spcPts val="800"/>
              </a:spcBef>
              <a:defRPr sz="1400" b="0">
                <a:solidFill>
                  <a:srgbClr val="94A3B8"/>
                </a:solidFill>
              </a:defRPr>
            </a:pPr>
            <a:r>
              <a:t>• Heuristic: h(n) = steps×0.7 + missing_data×3.0 + errors×0.5</a:t>
            </a:r>
          </a:p>
          <a:p>
            <a:pPr>
              <a:spcBef>
                <a:spcPts val="800"/>
              </a:spcBef>
              <a:defRPr sz="1400" b="0">
                <a:solidFill>
                  <a:srgbClr val="94A3B8"/>
                </a:solidFill>
              </a:defRPr>
            </a:pPr>
            <a:r>
              <a:t>• Admissible &amp; consistent — guarantees optimal path</a:t>
            </a:r>
          </a:p>
          <a:p>
            <a:pPr>
              <a:spcBef>
                <a:spcPts val="800"/>
              </a:spcBef>
              <a:defRPr sz="1400" b="0">
                <a:solidFill>
                  <a:srgbClr val="94A3B8"/>
                </a:solidFill>
              </a:defRPr>
            </a:pPr>
            <a:r>
              <a:t>• Uses heapq priority queue for efficient expansion</a:t>
            </a:r>
          </a:p>
          <a:p>
            <a:pPr>
              <a:spcBef>
                <a:spcPts val="800"/>
              </a:spcBef>
              <a:defRPr sz="1400" b="0">
                <a:solidFill>
                  <a:srgbClr val="94A3B8"/>
                </a:solidFill>
              </a:defRPr>
            </a:pPr>
            <a:r>
              <a:t>• f(n) = g(n) + h(n) — classic A* formulation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029200" cy="5303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</a:defRPr>
            </a:pPr>
            <a:r>
              <a:t>Filing Path (A* 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</a:p>
          <a:p>
            <a:pPr>
              <a:spcBef>
                <a:spcPts val="500"/>
              </a:spcBef>
              <a:defRPr sz="1300" b="0">
                <a:solidFill>
                  <a:srgbClr val="FFFFFF"/>
                </a:solidFill>
              </a:defRPr>
            </a:pPr>
            <a:r>
              <a:t>  1. START</a:t>
            </a:r>
          </a:p>
          <a:p>
            <a:pPr>
              <a:spcBef>
                <a:spcPts val="500"/>
              </a:spcBef>
              <a:defRPr sz="1300" b="0">
                <a:solidFill>
                  <a:srgbClr val="FFFFFF"/>
                </a:solidFill>
              </a:defRPr>
            </a:pPr>
            <a:r>
              <a:t>  2. Personal Info</a:t>
            </a:r>
          </a:p>
          <a:p>
            <a:pPr>
              <a:spcBef>
                <a:spcPts val="500"/>
              </a:spcBef>
              <a:defRPr sz="1300" b="0">
                <a:solidFill>
                  <a:srgbClr val="FFFFFF"/>
                </a:solidFill>
              </a:defRPr>
            </a:pPr>
            <a:r>
              <a:t>  3. Income (Salary)</a:t>
            </a:r>
          </a:p>
          <a:p>
            <a:pPr>
              <a:spcBef>
                <a:spcPts val="500"/>
              </a:spcBef>
              <a:defRPr sz="1300" b="0">
                <a:solidFill>
                  <a:srgbClr val="FFFFFF"/>
                </a:solidFill>
              </a:defRPr>
            </a:pPr>
            <a:r>
              <a:t>  4. HRA Calc</a:t>
            </a:r>
          </a:p>
          <a:p>
            <a:pPr>
              <a:spcBef>
                <a:spcPts val="500"/>
              </a:spcBef>
              <a:defRPr sz="1300" b="0">
                <a:solidFill>
                  <a:srgbClr val="FFFFFF"/>
                </a:solidFill>
              </a:defRPr>
            </a:pPr>
            <a:r>
              <a:t>  5. Deductions 80C</a:t>
            </a:r>
          </a:p>
          <a:p>
            <a:pPr>
              <a:spcBef>
                <a:spcPts val="500"/>
              </a:spcBef>
              <a:defRPr sz="1300" b="0">
                <a:solidFill>
                  <a:srgbClr val="FFFFFF"/>
                </a:solidFill>
              </a:defRPr>
            </a:pPr>
            <a:r>
              <a:t>  6. Deductions 80D</a:t>
            </a:r>
          </a:p>
          <a:p>
            <a:pPr>
              <a:spcBef>
                <a:spcPts val="500"/>
              </a:spcBef>
              <a:defRPr sz="1300" b="0">
                <a:solidFill>
                  <a:srgbClr val="FFFFFF"/>
                </a:solidFill>
              </a:defRPr>
            </a:pPr>
            <a:r>
              <a:t>  7. Other Deductions</a:t>
            </a:r>
          </a:p>
          <a:p>
            <a:pPr>
              <a:spcBef>
                <a:spcPts val="500"/>
              </a:spcBef>
              <a:defRPr sz="1300" b="0">
                <a:solidFill>
                  <a:srgbClr val="FFFFFF"/>
                </a:solidFill>
              </a:defRPr>
            </a:pPr>
            <a:r>
              <a:t>  8. Regime Selection</a:t>
            </a:r>
          </a:p>
          <a:p>
            <a:pPr>
              <a:spcBef>
                <a:spcPts val="500"/>
              </a:spcBef>
              <a:defRPr sz="1300" b="0">
                <a:solidFill>
                  <a:srgbClr val="FFFFFF"/>
                </a:solidFill>
              </a:defRPr>
            </a:pPr>
            <a:r>
              <a:t>  9. Tax Computation</a:t>
            </a:r>
          </a:p>
          <a:p>
            <a:pPr>
              <a:spcBef>
                <a:spcPts val="500"/>
              </a:spcBef>
              <a:defRPr sz="1300" b="0">
                <a:solidFill>
                  <a:srgbClr val="FFFFFF"/>
                </a:solidFill>
              </a:defRPr>
            </a:pPr>
            <a:r>
              <a:t>  10. TDS Verify</a:t>
            </a:r>
          </a:p>
          <a:p>
            <a:pPr>
              <a:spcBef>
                <a:spcPts val="500"/>
              </a:spcBef>
              <a:defRPr sz="1300" b="0">
                <a:solidFill>
                  <a:srgbClr val="FFFFFF"/>
                </a:solidFill>
              </a:defRPr>
            </a:pPr>
            <a:r>
              <a:t>  11. Tax Payment</a:t>
            </a:r>
          </a:p>
          <a:p>
            <a:pPr>
              <a:spcBef>
                <a:spcPts val="500"/>
              </a:spcBef>
              <a:defRPr sz="1300" b="0">
                <a:solidFill>
                  <a:srgbClr val="FFFFFF"/>
                </a:solidFill>
              </a:defRPr>
            </a:pPr>
            <a:r>
              <a:t>  12. Verification</a:t>
            </a:r>
          </a:p>
          <a:p>
            <a:pPr>
              <a:spcBef>
                <a:spcPts val="500"/>
              </a:spcBef>
              <a:defRPr sz="1300" b="1">
                <a:solidFill>
                  <a:srgbClr val="34D399"/>
                </a:solidFill>
              </a:defRPr>
            </a:pPr>
            <a:r>
              <a:t>  ✅ FILING COMPLETE 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366F1"/>
                </a:solidFill>
              </a:defRPr>
            </a:pPr>
            <a:r>
              <a:t>AI MODEL 2 &amp; 3 — ML CLASSIFICATION &amp; REGRESSION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303520" cy="5303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</a:defRPr>
            </a:pPr>
            <a:r>
              <a:t>Tax Regime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</a:p>
          <a:p>
            <a:pPr>
              <a:spcBef>
                <a:spcPts val="700"/>
              </a:spcBef>
              <a:defRPr sz="1300" b="0">
                <a:solidFill>
                  <a:srgbClr val="94A3B8"/>
                </a:solidFill>
              </a:defRPr>
            </a:pPr>
            <a:r>
              <a:t>• Algorithm: Random Forest + Gradient Boosting Ensemble</a:t>
            </a:r>
          </a:p>
          <a:p>
            <a:pPr>
              <a:spcBef>
                <a:spcPts val="700"/>
              </a:spcBef>
              <a:defRPr sz="1300" b="0">
                <a:solidFill>
                  <a:srgbClr val="94A3B8"/>
                </a:solidFill>
              </a:defRPr>
            </a:pPr>
            <a:r>
              <a:t>• Task: Predict Old vs New regime (binary classification)</a:t>
            </a:r>
          </a:p>
          <a:p>
            <a:pPr>
              <a:spcBef>
                <a:spcPts val="700"/>
              </a:spcBef>
              <a:defRPr sz="1300" b="0">
                <a:solidFill>
                  <a:srgbClr val="94A3B8"/>
                </a:solidFill>
              </a:defRPr>
            </a:pPr>
            <a:r>
              <a:t>• Features: income, deductions, HRA, investments, age, city</a:t>
            </a:r>
          </a:p>
          <a:p>
            <a:pPr>
              <a:spcBef>
                <a:spcPts val="700"/>
              </a:spcBef>
              <a:defRPr sz="1300" b="0">
                <a:solidFill>
                  <a:srgbClr val="94A3B8"/>
                </a:solidFill>
              </a:defRPr>
            </a:pPr>
            <a:r>
              <a:t>• Feature Engineering: deduction ratios, income brackets</a:t>
            </a:r>
          </a:p>
          <a:p>
            <a:pPr>
              <a:spcBef>
                <a:spcPts val="700"/>
              </a:spcBef>
              <a:defRPr sz="1300" b="0">
                <a:solidFill>
                  <a:srgbClr val="94A3B8"/>
                </a:solidFill>
              </a:defRPr>
            </a:pPr>
            <a:r>
              <a:t>• Ensemble: Average probabilities from both models</a:t>
            </a:r>
          </a:p>
          <a:p>
            <a:pPr>
              <a:spcBef>
                <a:spcPts val="700"/>
              </a:spcBef>
              <a:defRPr sz="1300" b="0">
                <a:solidFill>
                  <a:srgbClr val="94A3B8"/>
                </a:solidFill>
              </a:defRPr>
            </a:pPr>
            <a:r>
              <a:t>• Output: Regime + confidence score + feature importance</a:t>
            </a:r>
          </a:p>
          <a:p>
            <a:pPr>
              <a:spcBef>
                <a:spcPts val="700"/>
              </a:spcBef>
              <a:defRPr sz="1300" b="0">
                <a:solidFill>
                  <a:srgbClr val="94A3B8"/>
                </a:solidFill>
              </a:defRPr>
            </a:pPr>
            <a:r>
              <a:t>• Fallback: Rule-based when models unavailable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029200" cy="5303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923C"/>
                </a:solidFill>
              </a:defRPr>
            </a:pPr>
            <a:r>
              <a:t>Tax Liability Predictor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</a:p>
          <a:p>
            <a:pPr>
              <a:spcBef>
                <a:spcPts val="700"/>
              </a:spcBef>
              <a:defRPr sz="1300" b="0">
                <a:solidFill>
                  <a:srgbClr val="94A3B8"/>
                </a:solidFill>
              </a:defRPr>
            </a:pPr>
            <a:r>
              <a:t>• Algorithm: Gradient Boosting Regressor</a:t>
            </a:r>
          </a:p>
          <a:p>
            <a:pPr>
              <a:spcBef>
                <a:spcPts val="700"/>
              </a:spcBef>
              <a:defRPr sz="1300" b="0">
                <a:solidFill>
                  <a:srgbClr val="94A3B8"/>
                </a:solidFill>
              </a:defRPr>
            </a:pPr>
            <a:r>
              <a:t>• Task: Predict tax amount (continuous value)</a:t>
            </a:r>
          </a:p>
          <a:p>
            <a:pPr>
              <a:spcBef>
                <a:spcPts val="700"/>
              </a:spcBef>
              <a:defRPr sz="1300" b="0">
                <a:solidFill>
                  <a:srgbClr val="94A3B8"/>
                </a:solidFill>
              </a:defRPr>
            </a:pPr>
            <a:r>
              <a:t>• Feature Engineering: log(income), deduction ratios</a:t>
            </a:r>
          </a:p>
          <a:p>
            <a:pPr>
              <a:spcBef>
                <a:spcPts val="700"/>
              </a:spcBef>
              <a:defRPr sz="1300" b="0">
                <a:solidFill>
                  <a:srgbClr val="94A3B8"/>
                </a:solidFill>
              </a:defRPr>
            </a:pPr>
            <a:r>
              <a:t>• Confidence: Mean ± std from estimator ensemble</a:t>
            </a:r>
          </a:p>
          <a:p>
            <a:pPr>
              <a:spcBef>
                <a:spcPts val="700"/>
              </a:spcBef>
              <a:defRPr sz="1300" b="0">
                <a:solidFill>
                  <a:srgbClr val="94A3B8"/>
                </a:solidFill>
              </a:defRPr>
            </a:pPr>
            <a:r>
              <a:t>• Metrics: R² score, MAE, prediction intervals</a:t>
            </a:r>
          </a:p>
          <a:p>
            <a:pPr>
              <a:spcBef>
                <a:spcPts val="700"/>
              </a:spcBef>
              <a:defRPr sz="1300" b="0">
                <a:solidFill>
                  <a:srgbClr val="94A3B8"/>
                </a:solidFill>
              </a:defRPr>
            </a:pPr>
            <a:r>
              <a:t>• Training: 130+ synthetic taxpayer records</a:t>
            </a:r>
          </a:p>
          <a:p>
            <a:pPr>
              <a:spcBef>
                <a:spcPts val="700"/>
              </a:spcBef>
              <a:defRPr sz="1300" b="0">
                <a:solidFill>
                  <a:srgbClr val="94A3B8"/>
                </a:solidFill>
              </a:defRPr>
            </a:pPr>
            <a:r>
              <a:t>• Fallback: Rule-based slab calculation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366F1"/>
                </a:solidFill>
              </a:defRPr>
            </a:pPr>
            <a:r>
              <a:t>AI MODEL 4 — BAYESIAN NETWORK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303520" cy="5303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D3EE"/>
                </a:solidFill>
              </a:defRPr>
            </a:pPr>
            <a:r>
              <a:t>Probabilistic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94A3B8"/>
                </a:solidFill>
              </a:defRPr>
            </a:pPr>
            <a:r>
              <a:t>• Bayes' Theorem: P(A|B) = P(B|A)·P(A) / P(B)</a:t>
            </a:r>
          </a:p>
          <a:p>
            <a:pPr>
              <a:spcBef>
                <a:spcPts val="600"/>
              </a:spcBef>
              <a:defRPr sz="1300" b="0">
                <a:solidFill>
                  <a:srgbClr val="94A3B8"/>
                </a:solidFill>
              </a:defRPr>
            </a:pPr>
            <a:r>
              <a:t>• Nodes: Income Level, Deduction Level, Regime, Audit Risk</a:t>
            </a:r>
          </a:p>
          <a:p>
            <a:pPr>
              <a:spcBef>
                <a:spcPts val="600"/>
              </a:spcBef>
              <a:defRPr sz="1300" b="0">
                <a:solidFill>
                  <a:srgbClr val="94A3B8"/>
                </a:solidFill>
              </a:defRPr>
            </a:pPr>
            <a:r>
              <a:t>• 24-entry Conditional Probability Table (CPT)</a:t>
            </a:r>
          </a:p>
          <a:p>
            <a:pPr>
              <a:spcBef>
                <a:spcPts val="600"/>
              </a:spcBef>
              <a:defRPr sz="1300" b="0">
                <a:solidFill>
                  <a:srgbClr val="94A3B8"/>
                </a:solidFill>
              </a:defRPr>
            </a:pPr>
            <a:r>
              <a:t>• Likelihood modifiers for risk factors:</a:t>
            </a:r>
          </a:p>
          <a:p>
            <a:pPr>
              <a:spcBef>
                <a:spcPts val="600"/>
              </a:spcBef>
              <a:defRPr sz="1300" b="0">
                <a:solidFill>
                  <a:srgbClr val="94A3B8"/>
                </a:solidFill>
              </a:defRPr>
            </a:pPr>
            <a:r>
              <a:t>  — High deduction-to-income ratio → ×1.8</a:t>
            </a:r>
          </a:p>
          <a:p>
            <a:pPr>
              <a:spcBef>
                <a:spcPts val="600"/>
              </a:spcBef>
              <a:defRPr sz="1300" b="0">
                <a:solidFill>
                  <a:srgbClr val="94A3B8"/>
                </a:solidFill>
              </a:defRPr>
            </a:pPr>
            <a:r>
              <a:t>  — Maxed 80C with low income → ×1.4</a:t>
            </a:r>
          </a:p>
          <a:p>
            <a:pPr>
              <a:spcBef>
                <a:spcPts val="600"/>
              </a:spcBef>
              <a:defRPr sz="1300" b="0">
                <a:solidFill>
                  <a:srgbClr val="94A3B8"/>
                </a:solidFill>
              </a:defRPr>
            </a:pPr>
            <a:r>
              <a:t>  — Large donations (&gt;10% income) → ×1.5</a:t>
            </a:r>
          </a:p>
          <a:p>
            <a:pPr>
              <a:spcBef>
                <a:spcPts val="600"/>
              </a:spcBef>
              <a:defRPr sz="1300" b="0">
                <a:solidFill>
                  <a:srgbClr val="94A3B8"/>
                </a:solidFill>
              </a:defRPr>
            </a:pPr>
            <a:r>
              <a:t>  — Income &gt; ₹50L → ×1.6</a:t>
            </a:r>
          </a:p>
          <a:p>
            <a:pPr>
              <a:spcBef>
                <a:spcPts val="600"/>
              </a:spcBef>
              <a:defRPr sz="1300" b="0">
                <a:solidFill>
                  <a:srgbClr val="94A3B8"/>
                </a:solidFill>
              </a:defRPr>
            </a:pPr>
            <a:r>
              <a:t>• Posterior = min(1.0, base_prob × likelihood_modifier)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029200" cy="5303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</a:defRPr>
            </a:pPr>
            <a:r>
              <a:t>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1600" b="1">
                <a:solidFill>
                  <a:srgbClr val="FFFFFF"/>
                </a:solidFill>
              </a:defRPr>
            </a:pPr>
            <a:r>
              <a:t>🔍 Audit Risk Assessment</a:t>
            </a:r>
          </a:p>
          <a:p>
            <a:pPr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Calculates P(Audit | Income, Deductions, Regime) with risk level classification (Low &lt; 3%, Medium &lt; 8%, High ≥ 8%)</a:t>
            </a:r>
          </a:p>
          <a:p>
            <a:pPr>
              <a:spcBef>
                <a:spcPts val="1200"/>
              </a:spcBef>
              <a:defRPr sz="1600" b="1">
                <a:solidFill>
                  <a:srgbClr val="FFFFFF"/>
                </a:solidFill>
              </a:defRPr>
            </a:pPr>
            <a:r>
              <a:t>⚖️ Regime Recommendation</a:t>
            </a:r>
          </a:p>
          <a:p>
            <a:pPr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Bayesian update with HRA &amp; home loan signals — P(OldBetter | Data) vs P(NewBetter | Data)</a:t>
            </a:r>
          </a:p>
          <a:p>
            <a:pPr>
              <a:spcBef>
                <a:spcPts val="1200"/>
              </a:spcBef>
              <a:defRPr sz="1600" b="1">
                <a:solidFill>
                  <a:srgbClr val="FFFFFF"/>
                </a:solidFill>
              </a:defRPr>
            </a:pPr>
            <a:r>
              <a:t>📊 Transparent Output</a:t>
            </a:r>
          </a:p>
          <a:p>
            <a:pPr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Shows prior probability, conditional probability, posterior probability, and all risk factors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366F1"/>
                </a:solidFill>
              </a:defRPr>
            </a:pPr>
            <a:r>
              <a:t>AI MODEL 5 &amp; 6 — DEEP LEARNING &amp; NLP CHATBOT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30352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72B6"/>
                </a:solidFill>
              </a:defRPr>
            </a:pPr>
            <a:r>
              <a:t>Document Classifier (DNN)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</a:p>
          <a:p>
            <a:pPr>
              <a:spcBef>
                <a:spcPts val="500"/>
              </a:spcBef>
              <a:defRPr sz="1300" b="0">
                <a:solidFill>
                  <a:srgbClr val="94A3B8"/>
                </a:solidFill>
              </a:defRPr>
            </a:pPr>
            <a:r>
              <a:t>• Architecture: MLP (256→128→64) + ReLU + Dropout</a:t>
            </a:r>
          </a:p>
          <a:p>
            <a:pPr>
              <a:spcBef>
                <a:spcPts val="500"/>
              </a:spcBef>
              <a:defRPr sz="1300" b="0">
                <a:solidFill>
                  <a:srgbClr val="94A3B8"/>
                </a:solidFill>
              </a:defRPr>
            </a:pPr>
            <a:r>
              <a:t>• 7 document categories (Form16, Investment, etc.)</a:t>
            </a:r>
          </a:p>
          <a:p>
            <a:pPr>
              <a:spcBef>
                <a:spcPts val="500"/>
              </a:spcBef>
              <a:defRPr sz="1300" b="0">
                <a:solidFill>
                  <a:srgbClr val="94A3B8"/>
                </a:solidFill>
              </a:defRPr>
            </a:pPr>
            <a:r>
              <a:t>• Early stopping + validation split for regularization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1069848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</a:defRPr>
            </a:pPr>
            <a:r>
              <a:t>NLP Chatbot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User Message → NLTK Tokenize → TF-IDF Embed (3000 features) → Attention Layer → MLP Intent Classify (128-64-32) → Entity Extract → Context Update → Response Generate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029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</a:p>
          <a:p>
            <a:pPr>
              <a:spcBef>
                <a:spcPts val="500"/>
              </a:spcBef>
              <a:defRPr sz="1300" b="0">
                <a:solidFill>
                  <a:srgbClr val="94A3B8"/>
                </a:solidFill>
              </a:defRPr>
            </a:pPr>
            <a:r>
              <a:t>• Custom TaxTokenizer: regex for ₹ amounts, sections (80C/80D), PAN, dates</a:t>
            </a:r>
          </a:p>
          <a:p>
            <a:pPr>
              <a:spcBef>
                <a:spcPts val="500"/>
              </a:spcBef>
              <a:defRPr sz="1300" b="0">
                <a:solidFill>
                  <a:srgbClr val="94A3B8"/>
                </a:solidFill>
              </a:defRPr>
            </a:pPr>
            <a:r>
              <a:t>• Attention: Scaled dot-product — softmax(Q·Kᵀ/√dₖ)·V</a:t>
            </a:r>
          </a:p>
          <a:p>
            <a:pPr>
              <a:spcBef>
                <a:spcPts val="500"/>
              </a:spcBef>
              <a:defRPr sz="1300" b="0">
                <a:solidFill>
                  <a:srgbClr val="94A3B8"/>
                </a:solidFill>
              </a:defRPr>
            </a:pPr>
            <a:r>
              <a:t>• 25+ intent categories with data augmentation during training</a:t>
            </a:r>
          </a:p>
          <a:p>
            <a:pPr>
              <a:spcBef>
                <a:spcPts val="500"/>
              </a:spcBef>
              <a:defRPr sz="1300" b="0">
                <a:solidFill>
                  <a:srgbClr val="94A3B8"/>
                </a:solidFill>
              </a:defRPr>
            </a:pPr>
            <a:r>
              <a:t>• Rule-based fallback when confidence &lt; 40%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502920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Generative AI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7373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</a:p>
          <a:p>
            <a:pPr>
              <a:spcBef>
                <a:spcPts val="500"/>
              </a:spcBef>
              <a:defRPr sz="1300" b="0">
                <a:solidFill>
                  <a:srgbClr val="94A3B8"/>
                </a:solidFill>
              </a:defRPr>
            </a:pPr>
            <a:r>
              <a:t>• Role-Based Prompting (Tax Expert persona)</a:t>
            </a:r>
          </a:p>
          <a:p>
            <a:pPr>
              <a:spcBef>
                <a:spcPts val="500"/>
              </a:spcBef>
              <a:defRPr sz="1300" b="0">
                <a:solidFill>
                  <a:srgbClr val="94A3B8"/>
                </a:solidFill>
              </a:defRPr>
            </a:pPr>
            <a:r>
              <a:t>• Few-Shot Prompting (example Q&amp;A pairs)</a:t>
            </a:r>
          </a:p>
          <a:p>
            <a:pPr>
              <a:spcBef>
                <a:spcPts val="500"/>
              </a:spcBef>
              <a:defRPr sz="1300" b="0">
                <a:solidFill>
                  <a:srgbClr val="94A3B8"/>
                </a:solidFill>
              </a:defRPr>
            </a:pPr>
            <a:r>
              <a:t>• Chain-of-Thought step-by-step reasoning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366F1"/>
                </a:solidFill>
              </a:defRPr>
            </a:pPr>
            <a:r>
              <a:t>REST API ENDPOINTS (FastAPI)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069848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241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241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241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Description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90472"/>
            <a:ext cx="10698480" cy="40233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508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/api/tax/calculate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Calculate tax 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11095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911095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/api/tax/recommend-regime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1109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ML regime recommendation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295144"/>
            <a:ext cx="10698480" cy="40233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3134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3134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/api/tax/predict-liability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134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Predict tax amount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7157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715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/api/tax/recommend-deductions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157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AI deduction tips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099816"/>
            <a:ext cx="10698480" cy="40233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1181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11810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/api/tax/audit-risk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11810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Bayesian audit assessment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520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3520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/api/tax/generate-summary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GenAI tax summary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904488"/>
            <a:ext cx="10698480" cy="40233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9227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</a:defRPr>
            </a:pPr>
            <a:r>
              <a:t>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392277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/api/chat/message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9227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Send chatbot message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3251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</a:defRPr>
            </a:pPr>
            <a:r>
              <a:t>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3251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/api/analysis/filing-path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3251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A* search path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709160"/>
            <a:ext cx="10698480" cy="40233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7274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6"/>
                </a:solidFill>
              </a:defRPr>
            </a:pPr>
            <a:r>
              <a:t>POST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47274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/api/documents/classify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7274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DL doc classification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129783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</a:defRPr>
            </a:pPr>
            <a:r>
              <a:t>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5129783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/api/simulator/what-if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129783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What-if scenarios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513832"/>
            <a:ext cx="10698480" cy="40233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32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</a:defRPr>
            </a:pPr>
            <a:r>
              <a:t>GET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5532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/api/model-status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532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AI model health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93445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</a:defRPr>
            </a:pPr>
            <a:r>
              <a:t>GET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593445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/api/glossary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93445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Tax glossary (50+ terms)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366F1"/>
                </a:solidFill>
              </a:defRPr>
            </a:pPr>
            <a:r>
              <a:t>RESPONSIBLE AI &amp; ETHICS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303520" cy="1554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4864" cy="155448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</a:defRPr>
            </a:pPr>
            <a:r>
              <a:t>🔍 Transparency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Feature importance rankings, confidence scores, methodology labels, chain-of-thought reasoning for every AI decision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303520" cy="1554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4864" cy="155448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🔒 Privacy (DPDPA)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6002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PAN/Aadhaar/email auto-redacted in logs, session-based processing, consent management, 30-day retention policy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5303520" cy="1554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54864" cy="15544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17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</a:defRPr>
            </a:pPr>
            <a:r>
              <a:t>⚖️ Fairness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290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Balanced synthetic dataset across income levels, ages, employment types, cities — no demographic bias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926080"/>
            <a:ext cx="5303520" cy="1554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2926080"/>
            <a:ext cx="54864" cy="155448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017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72B6"/>
                </a:solidFill>
              </a:defRPr>
            </a:pPr>
            <a:r>
              <a:t>🛡️ Safety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290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Rule-based fallbacks when ML fails, input validation, no external API calls — all processing local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54880"/>
            <a:ext cx="5303520" cy="1554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754880"/>
            <a:ext cx="54864" cy="15544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846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👤 Human Oversight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578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AI assists, humans decide — users can override any recommendation, step-by-step verification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754880"/>
            <a:ext cx="5303520" cy="1554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4754880"/>
            <a:ext cx="54864" cy="155448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846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4A3B8"/>
                </a:solidFill>
              </a:defRPr>
            </a:pPr>
            <a:r>
              <a:t>📋 Accountability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2578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MLOps model registry, performance monitoring, version tracking, known limitations disclosed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366F1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3035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Python 3.9+, FastAPI, Uvicorn, Pydantic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035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ML/AI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002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scikit-learn (RF, GB, MLP), NumPy, pandas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23160"/>
            <a:ext cx="53035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</a:defRPr>
            </a:pPr>
            <a:r>
              <a:t>NLP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26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NLTK, TF-IDF Vectorizer, Custom Attention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423160"/>
            <a:ext cx="53035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514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</a:defRPr>
            </a:pPr>
            <a:r>
              <a:t>Visualization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926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Plotly.js interactive charts &amp; dashboards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53035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8404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72B6"/>
                </a:solidFill>
              </a:defRPr>
            </a:pPr>
            <a: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5195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HTML5, CSS3, Vanilla JavaScript (SPA)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749039"/>
            <a:ext cx="53035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8404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MLOps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25195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Custom pipeline, model registry, monitoring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74920"/>
            <a:ext cx="53035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16635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4A3B8"/>
                </a:solidFill>
              </a:defRPr>
            </a:pPr>
            <a:r>
              <a:t>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577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Docker, Render (backend), Vercel (frontend)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074920"/>
            <a:ext cx="53035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516635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577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Synthetic CSV (130+ records), JSON configs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0" y="2011680"/>
            <a:ext cx="484632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366F1"/>
                </a:solidFill>
              </a:defRPr>
            </a:pPr>
            <a:r>
              <a:t>AI-Powered Intelligent Tax Filing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7+ AI Models  •  18 API Endpoints  •  Full-Stack Production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303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D3EE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